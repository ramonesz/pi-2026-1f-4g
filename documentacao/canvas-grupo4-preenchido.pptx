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mover o slide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D10D05F-E601-4946-A875-2A966261E7B9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E39ECB3-9206-4E61-8415-824DB42D1A36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B4FDCAD-5873-4FA4-9255-65E15E8778D8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925C3A-937E-4C1B-9930-0AFD08374F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DF754E-0A84-4CDD-B4E8-7C23F20594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719590-CC7F-4D1C-94B2-C1C35EAEE7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173C87-170B-4445-A314-02B1C0A06C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EFA0D4-9B20-45A1-9600-FC58E613DA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280" cy="1106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596600-445E-4343-B1DA-3C45FC9544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2120A0-DFF5-4067-AFC8-353A5D6F60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CB4EA3-E053-40AD-99E9-8339D0ED7F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5501AD-7C54-4CEB-B83C-B4F0A9A24C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C2EF9C-09FF-4434-BEB5-ECC04A39D6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6F7F78-3839-4F11-B1AA-043703839B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F36080-CFE1-48C1-8CE4-24E982B09DB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latin typeface="Arial"/>
              </a:rPr>
              <a:t>Clique para editar o formato do texto do 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rgbClr val="757575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C548888-0CB3-4802-A581-22AF090AFAB2}" type="slidenum">
              <a:rPr b="0" lang="pt-BR" sz="1200" spc="-1" strike="noStrike">
                <a:solidFill>
                  <a:srgbClr val="757575"/>
                </a:solidFill>
                <a:latin typeface="Arial"/>
                <a:ea typeface="Arial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89;p1"/>
          <p:cNvGrpSpPr/>
          <p:nvPr/>
        </p:nvGrpSpPr>
        <p:grpSpPr>
          <a:xfrm>
            <a:off x="-5040" y="107640"/>
            <a:ext cx="12070440" cy="6672960"/>
            <a:chOff x="-5040" y="107640"/>
            <a:chExt cx="12070440" cy="6672960"/>
          </a:xfrm>
        </p:grpSpPr>
        <p:sp>
          <p:nvSpPr>
            <p:cNvPr id="48" name="Google Shape;90;p1"/>
            <p:cNvSpPr/>
            <p:nvPr/>
          </p:nvSpPr>
          <p:spPr>
            <a:xfrm>
              <a:off x="-5040" y="107640"/>
              <a:ext cx="86590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000000"/>
                  </a:solidFill>
                  <a:latin typeface="Arial"/>
                  <a:ea typeface="Arial"/>
                </a:rPr>
                <a:t>Artes grupo 4</a:t>
              </a:r>
              <a:endParaRPr b="0" lang="pt-BR" sz="2000" spc="-1" strike="noStrike">
                <a:latin typeface="Arial"/>
              </a:endParaRPr>
            </a:p>
          </p:txBody>
        </p:sp>
        <p:grpSp>
          <p:nvGrpSpPr>
            <p:cNvPr id="49" name="Google Shape;91;p1"/>
            <p:cNvGrpSpPr/>
            <p:nvPr/>
          </p:nvGrpSpPr>
          <p:grpSpPr>
            <a:xfrm>
              <a:off x="115920" y="815400"/>
              <a:ext cx="2814120" cy="3286080"/>
              <a:chOff x="115920" y="815400"/>
              <a:chExt cx="2814120" cy="3286080"/>
            </a:xfrm>
          </p:grpSpPr>
          <p:sp>
            <p:nvSpPr>
              <p:cNvPr id="50" name="Google Shape;92;p1"/>
              <p:cNvSpPr/>
              <p:nvPr/>
            </p:nvSpPr>
            <p:spPr>
              <a:xfrm>
                <a:off x="115920" y="815400"/>
                <a:ext cx="2809800" cy="45216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4ea72e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Contexto/Estado da arte(1)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51" name="Google Shape;93;p1"/>
              <p:cNvSpPr/>
              <p:nvPr/>
            </p:nvSpPr>
            <p:spPr>
              <a:xfrm>
                <a:off x="115920" y="1268280"/>
                <a:ext cx="2814120" cy="283320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4ea72e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2" name="Google Shape;94;p1"/>
            <p:cNvGrpSpPr/>
            <p:nvPr/>
          </p:nvGrpSpPr>
          <p:grpSpPr>
            <a:xfrm>
              <a:off x="113400" y="4178160"/>
              <a:ext cx="2814120" cy="2571480"/>
              <a:chOff x="113400" y="4178160"/>
              <a:chExt cx="2814120" cy="2571480"/>
            </a:xfrm>
          </p:grpSpPr>
          <p:sp>
            <p:nvSpPr>
              <p:cNvPr id="53" name="Google Shape;95;p1"/>
              <p:cNvSpPr/>
              <p:nvPr/>
            </p:nvSpPr>
            <p:spPr>
              <a:xfrm>
                <a:off x="115920" y="4178160"/>
                <a:ext cx="2809800" cy="31932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00b0f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Lacuna Identificada (2)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54" name="Google Shape;96;p1"/>
              <p:cNvSpPr/>
              <p:nvPr/>
            </p:nvSpPr>
            <p:spPr>
              <a:xfrm>
                <a:off x="113400" y="4498200"/>
                <a:ext cx="2814120" cy="225144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00b0f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5" name="Google Shape;97;p1"/>
            <p:cNvGrpSpPr/>
            <p:nvPr/>
          </p:nvGrpSpPr>
          <p:grpSpPr>
            <a:xfrm>
              <a:off x="3047400" y="815400"/>
              <a:ext cx="5723280" cy="1362240"/>
              <a:chOff x="3047400" y="815400"/>
              <a:chExt cx="5723280" cy="1362240"/>
            </a:xfrm>
          </p:grpSpPr>
          <p:sp>
            <p:nvSpPr>
              <p:cNvPr id="56" name="Google Shape;98;p1"/>
              <p:cNvSpPr/>
              <p:nvPr/>
            </p:nvSpPr>
            <p:spPr>
              <a:xfrm>
                <a:off x="3047400" y="815400"/>
                <a:ext cx="5723280" cy="32328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7030a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Relevância (3)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57" name="Google Shape;99;p1"/>
              <p:cNvSpPr/>
              <p:nvPr/>
            </p:nvSpPr>
            <p:spPr>
              <a:xfrm>
                <a:off x="3047400" y="1139760"/>
                <a:ext cx="5723280" cy="103788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7030a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marL="171360" indent="-101520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SSASADADSA</a:t>
                </a:r>
                <a:endParaRPr b="0" lang="pt-BR" sz="1100" spc="-1" strike="noStrike">
                  <a:latin typeface="Arial"/>
                </a:endParaRPr>
              </a:p>
            </p:txBody>
          </p:sp>
        </p:grpSp>
        <p:grpSp>
          <p:nvGrpSpPr>
            <p:cNvPr id="58" name="Google Shape;100;p1"/>
            <p:cNvGrpSpPr/>
            <p:nvPr/>
          </p:nvGrpSpPr>
          <p:grpSpPr>
            <a:xfrm>
              <a:off x="8904600" y="139320"/>
              <a:ext cx="3160800" cy="2912760"/>
              <a:chOff x="8904600" y="139320"/>
              <a:chExt cx="3160800" cy="2912760"/>
            </a:xfrm>
          </p:grpSpPr>
          <p:sp>
            <p:nvSpPr>
              <p:cNvPr id="59" name="Google Shape;101;p1"/>
              <p:cNvSpPr/>
              <p:nvPr/>
            </p:nvSpPr>
            <p:spPr>
              <a:xfrm>
                <a:off x="8904600" y="139320"/>
                <a:ext cx="3155760" cy="40068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Hipótese (4)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60" name="Google Shape;102;p1"/>
              <p:cNvSpPr/>
              <p:nvPr/>
            </p:nvSpPr>
            <p:spPr>
              <a:xfrm>
                <a:off x="8904600" y="540360"/>
                <a:ext cx="3160800" cy="251172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1" name="Google Shape;103;p1"/>
            <p:cNvGrpSpPr/>
            <p:nvPr/>
          </p:nvGrpSpPr>
          <p:grpSpPr>
            <a:xfrm>
              <a:off x="3047400" y="2286000"/>
              <a:ext cx="5744520" cy="1980360"/>
              <a:chOff x="3047400" y="2286000"/>
              <a:chExt cx="5744520" cy="1980360"/>
            </a:xfrm>
          </p:grpSpPr>
          <p:sp>
            <p:nvSpPr>
              <p:cNvPr id="62" name="Google Shape;104;p1"/>
              <p:cNvSpPr/>
              <p:nvPr/>
            </p:nvSpPr>
            <p:spPr>
              <a:xfrm>
                <a:off x="3047400" y="2286000"/>
                <a:ext cx="5744520" cy="27216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ff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Objetivo(s) (5)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63" name="Google Shape;105;p1"/>
              <p:cNvSpPr/>
              <p:nvPr/>
            </p:nvSpPr>
            <p:spPr>
              <a:xfrm>
                <a:off x="3047400" y="2558880"/>
                <a:ext cx="5744520" cy="170748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ff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4" name="Google Shape;106;p1"/>
            <p:cNvGrpSpPr/>
            <p:nvPr/>
          </p:nvGrpSpPr>
          <p:grpSpPr>
            <a:xfrm>
              <a:off x="3047400" y="4375080"/>
              <a:ext cx="5744520" cy="2374920"/>
              <a:chOff x="3047400" y="4375080"/>
              <a:chExt cx="5744520" cy="2374920"/>
            </a:xfrm>
          </p:grpSpPr>
          <p:sp>
            <p:nvSpPr>
              <p:cNvPr id="65" name="Google Shape;107;p1"/>
              <p:cNvSpPr/>
              <p:nvPr/>
            </p:nvSpPr>
            <p:spPr>
              <a:xfrm>
                <a:off x="3047400" y="4375080"/>
                <a:ext cx="5744520" cy="32652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c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Metodologia (7)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66" name="Google Shape;108;p1"/>
              <p:cNvSpPr/>
              <p:nvPr/>
            </p:nvSpPr>
            <p:spPr>
              <a:xfrm>
                <a:off x="3047400" y="4702320"/>
                <a:ext cx="5744520" cy="204768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c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7" name="Google Shape;109;p1"/>
            <p:cNvGrpSpPr/>
            <p:nvPr/>
          </p:nvGrpSpPr>
          <p:grpSpPr>
            <a:xfrm>
              <a:off x="8899920" y="3167640"/>
              <a:ext cx="3165120" cy="3612960"/>
              <a:chOff x="8899920" y="3167640"/>
              <a:chExt cx="3165120" cy="3612960"/>
            </a:xfrm>
          </p:grpSpPr>
          <p:sp>
            <p:nvSpPr>
              <p:cNvPr id="68" name="Google Shape;110;p1"/>
              <p:cNvSpPr/>
              <p:nvPr/>
            </p:nvSpPr>
            <p:spPr>
              <a:xfrm>
                <a:off x="8899920" y="3167640"/>
                <a:ext cx="3160080" cy="49716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00206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Referencial Teórico (6)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69" name="Google Shape;111;p1"/>
              <p:cNvSpPr/>
              <p:nvPr/>
            </p:nvSpPr>
            <p:spPr>
              <a:xfrm>
                <a:off x="8899920" y="3665160"/>
                <a:ext cx="3165120" cy="311544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00206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70" name=""/>
            <p:cNvSpPr/>
            <p:nvPr/>
          </p:nvSpPr>
          <p:spPr>
            <a:xfrm>
              <a:off x="0" y="1260000"/>
              <a:ext cx="2925720" cy="280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"/>
              </a:pPr>
              <a:r>
                <a:rPr b="0" lang="pt-BR" sz="1200" spc="-1" strike="noStrike">
                  <a:latin typeface="Arial"/>
                </a:rPr>
                <a:t>A arte sempre foi uma forma de expressão presente em diferentes culturas e sociedades. Ao longo da história, diversas manifestações artísticas surgiram, como pintura, música, dança, teatro e artes visuais. Cada povo expressa sua identidade, valores e tradições por meio da arte. Atualmente, a diversidade nas artes é cada vez mais valorizada, pois permite representar diferentes culturas, estilos, histórias e perspectivas, promovendo inclusão e respeito às diferenças.</a:t>
              </a:r>
              <a:endParaRPr b="0" lang="pt-BR" sz="1200" spc="-1" strike="noStrike"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3047400" y="1139760"/>
              <a:ext cx="5723280" cy="60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1200" spc="-1" strike="noStrike">
                  <a:latin typeface="Arial"/>
                </a:rPr>
                <a:t>Estudar a diversidade nas artes é importante porque são formas de expressar sentimentos e outras expressões, mostrando diversidade em questão de povos, culturas etc.</a:t>
              </a:r>
              <a:endParaRPr b="0" lang="pt-BR" sz="1200" spc="-1" strike="noStrike"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115920" y="4498200"/>
              <a:ext cx="2811600" cy="145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1200" spc="-1" strike="noStrike">
                  <a:latin typeface="Arial"/>
                </a:rPr>
                <a:t>Apesar da grande quantidade de conteúdo artístico disponível na internet, muitas vezes as diferentes formas de arte não estão organizadas em um único espaço que permita ao usuário explorar facilmente a diversidade de estilos, culturas e expressões artísticas.</a:t>
              </a:r>
              <a:endParaRPr b="0" lang="pt-BR" sz="1200" spc="-1" strike="noStrike"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8904600" y="540360"/>
              <a:ext cx="3155040" cy="162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1200" spc="-1" strike="noStrike">
                  <a:latin typeface="Arial"/>
                </a:rPr>
                <a:t>Uma forma de tentar preencher essa lacuna é analisar alguns artigos sobre a arte para entender melhor como o tema vem sendo tratado pelos pesquisadores. A ideia é ler e comparar as opiniões e perceber o que ainda não foi muito discutido. Com isso a pesquisa pode ajudar a trazer uma visão mais clara sobre o assunto e contribuir na área.</a:t>
              </a:r>
              <a:endParaRPr b="0" lang="pt-BR" sz="1200" spc="-1" strike="noStrike"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3047400" y="2558880"/>
              <a:ext cx="5744520" cy="128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1200" spc="-1" strike="noStrike">
                  <a:latin typeface="Arial"/>
                </a:rPr>
                <a:t>Dar reconhecimento aos artistas e suas publicações de artes. Além disso dar oportunidade aos artistas de ter um sucesso na comunidade de expressar seus pensamentos e ideias.</a:t>
              </a:r>
              <a:endParaRPr b="0" lang="pt-BR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pt-BR" sz="1200" spc="-1" strike="noStrike">
                  <a:latin typeface="Arial"/>
                </a:rPr>
                <a:t>Criar uma plataforma acessível que permita ao público explorar diferentes formas de arte e estilos.</a:t>
              </a:r>
              <a:endParaRPr b="0" lang="pt-BR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b="0" lang="pt-BR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b="0" lang="pt-BR" sz="1200" spc="-1" strike="noStrike"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3047400" y="4702320"/>
              <a:ext cx="57445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1200" spc="-1" strike="noStrike">
                  <a:latin typeface="Arial"/>
                </a:rPr>
                <a:t>Pesquisa em livros e sites sobre arte e diversidade cultural</a:t>
              </a:r>
              <a:endParaRPr b="0" lang="pt-BR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pt-BR" sz="1200" spc="-1" strike="noStrike">
                  <a:latin typeface="Arial"/>
                </a:rPr>
                <a:t>Análise de diferentes tipos de arte (pintura, música, dança, teatro)</a:t>
              </a:r>
              <a:endParaRPr b="0" lang="pt-BR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pt-BR" sz="1200" spc="-1" strike="noStrike">
                  <a:latin typeface="Arial"/>
                </a:rPr>
                <a:t>Observação de obras de artistas de diferentes culturas</a:t>
              </a:r>
              <a:endParaRPr b="0" lang="pt-BR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pt-BR" sz="1200" spc="-1" strike="noStrike">
                  <a:latin typeface="Arial"/>
                </a:rPr>
                <a:t>Produção de resumo ou apresentação sobre o tema</a:t>
              </a:r>
              <a:endParaRPr b="0" lang="pt-BR" sz="1200" spc="-1" strike="noStrike"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8899920" y="3665160"/>
              <a:ext cx="3165120" cy="94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1200" spc="-1" strike="noStrike">
                  <a:latin typeface="Arial"/>
                </a:rPr>
                <a:t>Nós vamos precisar do conhecimento de como cada arte é definida. Por exemplo: saber qual tipo de arte o desenho é, qual o gênero de desenho ou de música, além de saber a origem de cada gênero de arte.</a:t>
              </a:r>
              <a:endParaRPr b="0" lang="pt-BR" sz="12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117;p2"/>
          <p:cNvGrpSpPr/>
          <p:nvPr/>
        </p:nvGrpSpPr>
        <p:grpSpPr>
          <a:xfrm>
            <a:off x="111600" y="107640"/>
            <a:ext cx="11958840" cy="6642000"/>
            <a:chOff x="111600" y="107640"/>
            <a:chExt cx="11958840" cy="6642000"/>
          </a:xfrm>
        </p:grpSpPr>
        <p:grpSp>
          <p:nvGrpSpPr>
            <p:cNvPr id="78" name="Google Shape;118;p2"/>
            <p:cNvGrpSpPr/>
            <p:nvPr/>
          </p:nvGrpSpPr>
          <p:grpSpPr>
            <a:xfrm>
              <a:off x="111600" y="107640"/>
              <a:ext cx="7952400" cy="1985760"/>
              <a:chOff x="111600" y="107640"/>
              <a:chExt cx="7952400" cy="1985760"/>
            </a:xfrm>
          </p:grpSpPr>
          <p:sp>
            <p:nvSpPr>
              <p:cNvPr id="79" name="Google Shape;119;p2"/>
              <p:cNvSpPr/>
              <p:nvPr/>
            </p:nvSpPr>
            <p:spPr>
              <a:xfrm>
                <a:off x="111600" y="107640"/>
                <a:ext cx="7939440" cy="27288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1f5c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Resultados Esperados (8)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80" name="Google Shape;120;p2"/>
              <p:cNvSpPr/>
              <p:nvPr/>
            </p:nvSpPr>
            <p:spPr>
              <a:xfrm>
                <a:off x="111600" y="381240"/>
                <a:ext cx="7952400" cy="171216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1f5c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1" name="Google Shape;121;p2"/>
            <p:cNvGrpSpPr/>
            <p:nvPr/>
          </p:nvGrpSpPr>
          <p:grpSpPr>
            <a:xfrm>
              <a:off x="111600" y="2184120"/>
              <a:ext cx="2939400" cy="2855160"/>
              <a:chOff x="111600" y="2184120"/>
              <a:chExt cx="2939400" cy="2855160"/>
            </a:xfrm>
          </p:grpSpPr>
          <p:sp>
            <p:nvSpPr>
              <p:cNvPr id="82" name="Google Shape;122;p2"/>
              <p:cNvSpPr/>
              <p:nvPr/>
            </p:nvSpPr>
            <p:spPr>
              <a:xfrm>
                <a:off x="111600" y="2184120"/>
                <a:ext cx="2934720" cy="35460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a5a5a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Premissas (10)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83" name="Google Shape;123;p2"/>
              <p:cNvSpPr/>
              <p:nvPr/>
            </p:nvSpPr>
            <p:spPr>
              <a:xfrm>
                <a:off x="111600" y="2539440"/>
                <a:ext cx="2939400" cy="249984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a5a5a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4" name="Google Shape;124;p2"/>
            <p:cNvGrpSpPr/>
            <p:nvPr/>
          </p:nvGrpSpPr>
          <p:grpSpPr>
            <a:xfrm>
              <a:off x="8178840" y="139320"/>
              <a:ext cx="3891600" cy="1954440"/>
              <a:chOff x="8178840" y="139320"/>
              <a:chExt cx="3891600" cy="1954440"/>
            </a:xfrm>
          </p:grpSpPr>
          <p:sp>
            <p:nvSpPr>
              <p:cNvPr id="85" name="Google Shape;125;p2"/>
              <p:cNvSpPr/>
              <p:nvPr/>
            </p:nvSpPr>
            <p:spPr>
              <a:xfrm>
                <a:off x="8178840" y="139320"/>
                <a:ext cx="3885120" cy="26856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bf4f14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Critérios de Parada (9)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86" name="Google Shape;126;p2"/>
              <p:cNvSpPr/>
              <p:nvPr/>
            </p:nvSpPr>
            <p:spPr>
              <a:xfrm>
                <a:off x="8178840" y="408600"/>
                <a:ext cx="3891600" cy="168516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bf4f14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7" name="Google Shape;127;p2"/>
            <p:cNvGrpSpPr/>
            <p:nvPr/>
          </p:nvGrpSpPr>
          <p:grpSpPr>
            <a:xfrm>
              <a:off x="3119760" y="2184840"/>
              <a:ext cx="2878920" cy="2855160"/>
              <a:chOff x="3119760" y="2184840"/>
              <a:chExt cx="2878920" cy="2855160"/>
            </a:xfrm>
          </p:grpSpPr>
          <p:sp>
            <p:nvSpPr>
              <p:cNvPr id="88" name="Google Shape;128;p2"/>
              <p:cNvSpPr/>
              <p:nvPr/>
            </p:nvSpPr>
            <p:spPr>
              <a:xfrm>
                <a:off x="3119760" y="2184840"/>
                <a:ext cx="2878920" cy="35460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43d65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Restrições (11)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89" name="Google Shape;129;p2"/>
              <p:cNvSpPr/>
              <p:nvPr/>
            </p:nvSpPr>
            <p:spPr>
              <a:xfrm>
                <a:off x="3119760" y="2540160"/>
                <a:ext cx="2878920" cy="249984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43d65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90" name="Google Shape;130;p2"/>
            <p:cNvGrpSpPr/>
            <p:nvPr/>
          </p:nvGrpSpPr>
          <p:grpSpPr>
            <a:xfrm>
              <a:off x="6086520" y="2186280"/>
              <a:ext cx="2878920" cy="2855160"/>
              <a:chOff x="6086520" y="2186280"/>
              <a:chExt cx="2878920" cy="2855160"/>
            </a:xfrm>
          </p:grpSpPr>
          <p:sp>
            <p:nvSpPr>
              <p:cNvPr id="91" name="Google Shape;131;p2"/>
              <p:cNvSpPr/>
              <p:nvPr/>
            </p:nvSpPr>
            <p:spPr>
              <a:xfrm>
                <a:off x="6086520" y="2186280"/>
                <a:ext cx="2878920" cy="35460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0b769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Riscos (12)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92" name="Google Shape;132;p2"/>
              <p:cNvSpPr/>
              <p:nvPr/>
            </p:nvSpPr>
            <p:spPr>
              <a:xfrm>
                <a:off x="6086520" y="2541600"/>
                <a:ext cx="2878920" cy="249984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0b769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93" name="Google Shape;133;p2"/>
            <p:cNvGrpSpPr/>
            <p:nvPr/>
          </p:nvGrpSpPr>
          <p:grpSpPr>
            <a:xfrm>
              <a:off x="9034200" y="2184120"/>
              <a:ext cx="3009960" cy="2855160"/>
              <a:chOff x="9034200" y="2184120"/>
              <a:chExt cx="3009960" cy="2855160"/>
            </a:xfrm>
          </p:grpSpPr>
          <p:sp>
            <p:nvSpPr>
              <p:cNvPr id="94" name="Google Shape;134;p2"/>
              <p:cNvSpPr/>
              <p:nvPr/>
            </p:nvSpPr>
            <p:spPr>
              <a:xfrm>
                <a:off x="9034200" y="2184120"/>
                <a:ext cx="3005280" cy="35460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78206e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6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Respostas aos Riscos (13)</a:t>
                </a:r>
                <a:endParaRPr b="0" lang="pt-BR" sz="1600" spc="-1" strike="noStrike">
                  <a:latin typeface="Arial"/>
                </a:endParaRPr>
              </a:p>
            </p:txBody>
          </p:sp>
          <p:sp>
            <p:nvSpPr>
              <p:cNvPr id="95" name="Google Shape;135;p2"/>
              <p:cNvSpPr/>
              <p:nvPr/>
            </p:nvSpPr>
            <p:spPr>
              <a:xfrm>
                <a:off x="9034200" y="2539440"/>
                <a:ext cx="3009960" cy="2499840"/>
              </a:xfrm>
              <a:prstGeom prst="rect">
                <a:avLst/>
              </a:prstGeom>
              <a:solidFill>
                <a:schemeClr val="lt1"/>
              </a:solidFill>
              <a:ln w="38100">
                <a:solidFill>
                  <a:srgbClr val="78206e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96" name="Google Shape;136;p2"/>
            <p:cNvGrpSpPr/>
            <p:nvPr/>
          </p:nvGrpSpPr>
          <p:grpSpPr>
            <a:xfrm>
              <a:off x="111600" y="5096880"/>
              <a:ext cx="11951640" cy="1652760"/>
              <a:chOff x="111600" y="5096880"/>
              <a:chExt cx="11951640" cy="1652760"/>
            </a:xfrm>
          </p:grpSpPr>
          <p:grpSp>
            <p:nvGrpSpPr>
              <p:cNvPr id="97" name="Google Shape;137;p2"/>
              <p:cNvGrpSpPr/>
              <p:nvPr/>
            </p:nvGrpSpPr>
            <p:grpSpPr>
              <a:xfrm>
                <a:off x="111600" y="5096880"/>
                <a:ext cx="11951640" cy="1652760"/>
                <a:chOff x="111600" y="5096880"/>
                <a:chExt cx="11951640" cy="1652760"/>
              </a:xfrm>
            </p:grpSpPr>
            <p:sp>
              <p:nvSpPr>
                <p:cNvPr id="98" name="Google Shape;138;p2"/>
                <p:cNvSpPr/>
                <p:nvPr/>
              </p:nvSpPr>
              <p:spPr>
                <a:xfrm>
                  <a:off x="111600" y="5096880"/>
                  <a:ext cx="11932920" cy="279360"/>
                </a:xfrm>
                <a:prstGeom prst="rect">
                  <a:avLst/>
                </a:prstGeom>
                <a:solidFill>
                  <a:schemeClr val="lt1"/>
                </a:solidFill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lang="pt-BR" sz="1600" spc="-1" strike="noStrike">
                      <a:solidFill>
                        <a:srgbClr val="000000"/>
                      </a:solidFill>
                      <a:latin typeface="Arial"/>
                      <a:ea typeface="Arial"/>
                    </a:rPr>
                    <a:t>Planos de Entregas (14)</a:t>
                  </a:r>
                  <a:endParaRPr b="0" lang="pt-BR" sz="1600" spc="-1" strike="noStrike">
                    <a:latin typeface="Arial"/>
                  </a:endParaRPr>
                </a:p>
              </p:txBody>
            </p:sp>
            <p:sp>
              <p:nvSpPr>
                <p:cNvPr id="99" name="Google Shape;139;p2"/>
                <p:cNvSpPr/>
                <p:nvPr/>
              </p:nvSpPr>
              <p:spPr>
                <a:xfrm>
                  <a:off x="111600" y="5379120"/>
                  <a:ext cx="11951640" cy="1370520"/>
                </a:xfrm>
                <a:prstGeom prst="rect">
                  <a:avLst/>
                </a:prstGeom>
                <a:solidFill>
                  <a:schemeClr val="lt1"/>
                </a:solidFill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00" name="Google Shape;140;p2"/>
              <p:cNvSpPr/>
              <p:nvPr/>
            </p:nvSpPr>
            <p:spPr>
              <a:xfrm>
                <a:off x="6078240" y="5485320"/>
                <a:ext cx="5961600" cy="1230840"/>
              </a:xfrm>
              <a:prstGeom prst="rect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101" name=""/>
          <p:cNvSpPr/>
          <p:nvPr/>
        </p:nvSpPr>
        <p:spPr>
          <a:xfrm>
            <a:off x="111600" y="381240"/>
            <a:ext cx="7952400" cy="14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latin typeface="Arial"/>
              </a:rPr>
              <a:t>Impulsionar novos talentos: Criar formas de reconhecer artistas novos, ajudando-os a conquistar reconhecimento no mercado e no cenário cultural.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latin typeface="Arial"/>
              </a:rPr>
              <a:t>Levar a arte a todos os lugares: Expandir o acesso a produções artísticas em regiões que hoje têm pouco espaço para exposições e divulgação de criadores locais.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latin typeface="Arial"/>
              </a:rPr>
              <a:t>Estimular a criatividade: Oferecer referências, ideias e novos caminhos que sirvam de inspiração para a criação de obras inéditas.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latin typeface="Arial"/>
              </a:rPr>
              <a:t>Troca de experiências e mentorias: Construir uma rede onde artistas possam evoluir através de dicas, críticas construtivas e o apoio de profissionais que queiram ajudar no crescimento da comunidade.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8178840" y="360000"/>
            <a:ext cx="4139640" cy="19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latin typeface="Arial"/>
              </a:rPr>
              <a:t>Para cada etapa do projeto, foram definidos marcos para encerrar a coleta de dados. A pesquisa bibliográfica será concluída após analisar 10 fontes confiáveis sobre arte e diversidade artística. A coleta de conteúdos termina quando forem selecionadas 20 obras ou exemplos de diferentes estilos. A organização das informações será encerrada quando houver 4 categorias de arte (pintura, escultura, fotografia e arte digital). O desenvolvimento do site será considerado concluído quando todas as páginas principais estiverem funcionando.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11600" y="2539440"/>
            <a:ext cx="2939400" cy="14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latin typeface="Arial"/>
              </a:rPr>
              <a:t>Atualmente, o talento artístico não é o único fator para o sucesso; a falta de acesso a redes de contatos, visibilidade digital e orientação profissional cria barreiras que impedem que artistas promissores vivam de sua arte, especialmente fora dos grandes eixos culturais.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119760" y="2540160"/>
            <a:ext cx="299988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latin typeface="Arial"/>
              </a:rPr>
              <a:t>O projeto está limitado pela disponibilidade de imagens e obras com direitos autorais, o que pode reduzir o número de conteúdos incluídos. Há também limitações de tempo e recursos técnicos, como conhecimento em desenvolvimento web e hospedagem de site. Além disso, a quantidade de ensaios ou testes de usabilidade do site pode ser limitada pelo número de usuários disponíveis para avaliação. Por fim, o acesso a algumas informações sobre artistas pode estar sujeito a sigilo ou restrições de divulgação.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086520" y="2541600"/>
            <a:ext cx="2878920" cy="12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latin typeface="Arial"/>
              </a:rPr>
              <a:t>Existe muito conteúdo inapropriado na internet que qualquer um poderia publicar, o que pode levar ao bloqueio do site a longo prazo. Além disso, haveria o potencial de plágio, com usuários postando artes retiradas de outros lugares.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9034200" y="2539440"/>
            <a:ext cx="3009960" cy="14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latin typeface="Arial"/>
              </a:rPr>
              <a:t>O site deve ter um algoritmo ou uma IA que verifica conteúdo inapropriado e classifica em tags de idade ou se o conteúdo for realmente inapropriado para o site em si o conteúdo não será aceito. Além disso a IA vai verificar artes copiadas no site e irá tirar artes plagiadas.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11600" y="5400000"/>
            <a:ext cx="119516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latin typeface="Arial"/>
              </a:rPr>
              <a:t>Esperamos criar um site onde será possível a pessoa postar suas artes e, com um reels e um algoritmo próprio, conseguir entregar esta arte para outras pessoas. As artes poderão ser de todos os gêneros e tipos, mas obviamente com uma restrição básica. As artes também terão tags para definir o tipo de arte e filtrar as buscas. Alguns artistas mais experientes poderão comentar em outras artes para dar ideias de melhorias; os usuários também terão um perfil onde terão seus próprios seguidores.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LibreOffice/7.3.7.2$Windows_X86_64 LibreOffice_project/e114eadc50a9ff8d8c8a0567d6da8f454beeb84f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2024-10-27T22:06:41Z</dcterms:created>
  <dc:creator>Renato Castro</dc:creator>
  <dc:description/>
  <dc:language>pt-BR</dc:language>
  <cp:lastModifiedBy/>
  <dcterms:modified xsi:type="dcterms:W3CDTF">2026-03-23T08:59:53Z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